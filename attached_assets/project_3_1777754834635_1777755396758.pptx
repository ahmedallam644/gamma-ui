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59669"/>
          </a:solidFill>
          <a:ln/>
        </p:spPr>
      </p:sp>
      <p:sp>
        <p:nvSpPr>
          <p:cNvPr id="3" name="Text 1"/>
          <p:cNvSpPr/>
          <p:nvPr/>
        </p:nvSpPr>
        <p:spPr>
          <a:xfrm>
            <a:off x="0" y="91440"/>
            <a:ext cx="91440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مشروع تخرج</a:t>
            </a:r>
            <a:endParaRPr lang="en-US" sz="2400" dirty="0"/>
          </a:p>
        </p:txBody>
      </p:sp>
      <p:sp>
        <p:nvSpPr>
          <p:cNvPr id="4" name="Text 2"/>
          <p:cNvSpPr/>
          <p:nvPr/>
        </p:nvSpPr>
        <p:spPr>
          <a:xfrm>
            <a:off x="457200" y="2377440"/>
            <a:ext cx="8229600" cy="1371600"/>
          </a:xfrm>
          <a:prstGeom prst="rect">
            <a:avLst/>
          </a:prstGeom>
          <a:noFill/>
          <a:ln/>
        </p:spPr>
        <p:txBody>
          <a:bodyPr wrap="square" rtlCol="0" anchor="ctr"/>
          <a:lstStyle/>
          <a:p>
            <a:pPr algn="ctr" indent="0" marL="0">
              <a:buNone/>
            </a:pPr>
            <a:r>
              <a:rPr lang="en-US" sz="2800" b="1" dirty="0">
                <a:solidFill>
                  <a:srgbClr val="059669"/>
                </a:solidFill>
                <a:latin typeface="Arial" pitchFamily="34" charset="0"/>
                <a:ea typeface="Arial" pitchFamily="34" charset="-122"/>
                <a:cs typeface="Arial" pitchFamily="34" charset="-120"/>
              </a:rPr>
              <a:t>cataract</a:t>
            </a:r>
            <a:endParaRPr lang="en-US" sz="2800" dirty="0"/>
          </a:p>
        </p:txBody>
      </p:sp>
      <p:sp>
        <p:nvSpPr>
          <p:cNvPr id="5" name="Text 3"/>
          <p:cNvSpPr/>
          <p:nvPr/>
        </p:nvSpPr>
        <p:spPr>
          <a:xfrm>
            <a:off x="457200" y="4023360"/>
            <a:ext cx="8229600" cy="1280160"/>
          </a:xfrm>
          <a:prstGeom prst="rect">
            <a:avLst/>
          </a:prstGeom>
          <a:noFill/>
          <a:ln/>
        </p:spPr>
        <p:txBody>
          <a:bodyPr wrap="square"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الطلاب: ahmed</a:t>
            </a:r>
            <a:endParaRPr lang="en-US" sz="1600" dirty="0"/>
          </a:p>
          <a:p>
            <a:pPr algn="ctr" indent="0" marL="0">
              <a:buNone/>
            </a:pPr>
            <a:r>
              <a:rPr lang="en-US" sz="1400" dirty="0">
                <a:solidFill>
                  <a:srgbClr val="1E293B"/>
                </a:solidFill>
                <a:latin typeface="Arial" pitchFamily="34" charset="0"/>
                <a:ea typeface="Arial" pitchFamily="34" charset="-122"/>
                <a:cs typeface="Arial" pitchFamily="34" charset="-120"/>
              </a:rPr>
              <a:t>المشرف: ahmed</a:t>
            </a:r>
            <a:endParaRPr lang="en-US" sz="1600" dirty="0"/>
          </a:p>
          <a:p>
            <a:pPr algn="ctr" indent="0" marL="0">
              <a:buNone/>
            </a:pPr>
            <a:r>
              <a:rPr lang="en-US" sz="1400" dirty="0">
                <a:solidFill>
                  <a:srgbClr val="1E293B"/>
                </a:solidFill>
                <a:latin typeface="Arial" pitchFamily="34" charset="0"/>
                <a:ea typeface="Arial" pitchFamily="34" charset="-122"/>
                <a:cs typeface="Arial" pitchFamily="34" charset="-120"/>
              </a:rPr>
              <a:t>القسم: ahmed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مشروع التخرج: دراسة حول أسباب الإصابة بالعتămَة وطرق معالجتها</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المرشح: أحمد</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المشرف: أحمد</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القسم: قسم التمريض</a:t>
            </a:r>
            <a:endParaRPr lang="en-US" sz="1400" dirty="0"/>
          </a:p>
        </p:txBody>
      </p:sp>
      <p:pic>
        <p:nvPicPr>
          <p:cNvPr id="4"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المقدمة</a:t>
            </a:r>
            <a:endParaRPr lang="en-US" sz="2000" dirty="0"/>
          </a:p>
        </p:txBody>
      </p:sp>
      <p:sp>
        <p:nvSpPr>
          <p:cNvPr id="4" name="Text 2"/>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العتămَة (Cataract) هي واحدة من الأمراض الشائعة التي تؤثر على الرؤية عند الكبار في السن. وهي عبارة عن تعتيم في عدسة العين التي تسبب انخفاض الرؤية. يعد الإصابة بالعتămَة واحدة من أكثر الأمراض شيوعًا في مجال طب العيون. في هذا المشروع، سنقوم بدراسة أسباب الإصابة بالعتămَة وطرق معالجتها.</a:t>
            </a:r>
            <a:endParaRPr lang="en-US" sz="1400" dirty="0"/>
          </a:p>
        </p:txBody>
      </p:sp>
      <p:pic>
        <p:nvPicPr>
          <p:cNvPr id="5"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أهمية الموضوع</a:t>
            </a:r>
            <a:endParaRPr lang="en-US" sz="2000" dirty="0"/>
          </a:p>
        </p:txBody>
      </p:sp>
      <p:sp>
        <p:nvSpPr>
          <p:cNvPr id="4" name="Text 2"/>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العتămَة هي واحدة من الأمراض التي تؤثر على جودة الحياة عند الكبار في السن. حيث تؤثر على الرؤية وتصعب القيام بالأنشطة اليومية. كما أنها تزيد من خطر السقوط والإصابة بأمراض أخرى. لذلك، يعد فهم أسباب الإصابة بالعتămَة وطرق معالجتها أمرًا هامًا لتحسين جودة الحياة عند الكبار في السن.</a:t>
            </a:r>
            <a:endParaRPr lang="en-US" sz="1400" dirty="0"/>
          </a:p>
        </p:txBody>
      </p:sp>
      <p:pic>
        <p:nvPicPr>
          <p:cNvPr id="5"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الأهداف</a:t>
            </a:r>
            <a:endParaRPr lang="en-US" sz="2000" dirty="0"/>
          </a:p>
        </p:txBody>
      </p:sp>
      <p:sp>
        <p:nvSpPr>
          <p:cNvPr id="4" name="Text 2"/>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1. تحديد أسباب الإصابة بالعتămَة عند الكبار في السن.</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2. وصف طرق معالجة العتămَة عند الكبار في السن.</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3. تقييم فعالية طرق المعالجة المختلفة في تحسين الرؤية عند مرضى العتămَة.</a:t>
            </a:r>
            <a:endParaRPr lang="en-US" sz="1400" dirty="0"/>
          </a:p>
        </p:txBody>
      </p:sp>
      <p:pic>
        <p:nvPicPr>
          <p:cNvPr id="5"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الإطار النظري</a:t>
            </a:r>
            <a:endParaRPr lang="en-US" sz="2000" dirty="0"/>
          </a:p>
        </p:txBody>
      </p:sp>
      <p:sp>
        <p:nvSpPr>
          <p:cNvPr id="4" name="Text 2"/>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العتămَة هي نتيجة لتغيرات في بنية العين، حيث تتأكسد البروتينات في العدسة وتتسبب في تعتيمها. ويplayed دورًا هامًا في الإصابة بالعتămَة عوامل مثل التقدم في العمر، التعرض للإشعاع فوق البنفسجي، والإصابة بأمراض أخرى مثل السكري ومرض الزهايمر (Kang et al., 2022).</a:t>
            </a:r>
            <a:endParaRPr lang="en-US" sz="1400" dirty="0"/>
          </a:p>
        </p:txBody>
      </p:sp>
      <p:pic>
        <p:nvPicPr>
          <p:cNvPr id="5"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الفصل الأول: أسباب الإصابة بالعتămَة</a:t>
            </a:r>
            <a:endParaRPr lang="en-US" sz="2000" dirty="0"/>
          </a:p>
        </p:txBody>
      </p:sp>
      <p:sp>
        <p:nvSpPr>
          <p:cNvPr id="4" name="Text 2"/>
          <p:cNvSpPr/>
          <p:nvPr/>
        </p:nvSpPr>
        <p:spPr>
          <a:xfrm>
            <a:off x="3383280" y="914400"/>
            <a:ext cx="502920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العتămَة هي نتيجة لتغيرات في بنية العين، حيث تتأكسد البروتينات في العدسة وتتسبب في تعتيمها. وتعد العوامل التالية من أكثر الأسباب شيوعًا للإصابة بالعتămَة:</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 التقدم في العمر: حيث تزداد نسبة الإصابة بالعتămَة مع التقدم في العمر (Lee et al., 2021).</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 التعرض للإشعاع فوق البنفسجي: حيث يزيد التعرض للإشعاع فوق البنفسجي من خطر الإصابة بالعتămَة (Kim et al., 2022).</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 الإصابة بأمراض أخرى: مثل السكري ومرض الزهايمر (Kang et al., 2022).</a:t>
            </a:r>
            <a:endParaRPr lang="en-US" sz="1400" dirty="0"/>
          </a:p>
        </p:txBody>
      </p:sp>
      <p:pic>
        <p:nvPicPr>
          <p:cNvPr id="5" name="Image 0" descr="preencoded.png">    </p:cNvPr>
          <p:cNvPicPr>
            <a:picLocks noChangeAspect="1"/>
          </p:cNvPicPr>
          <p:nvPr/>
        </p:nvPicPr>
        <p:blipFill>
          <a:blip r:embed="rId1"/>
          <a:srcRect l="0" r="0" t="0" b="0"/>
          <a:stretch/>
        </p:blipFill>
        <p:spPr>
          <a:xfrm>
            <a:off x="274320" y="914400"/>
            <a:ext cx="3200400" cy="384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الفصل الثاني: طرق معالجة العتămَة</a:t>
            </a:r>
            <a:endParaRPr lang="en-US" sz="2000" dirty="0"/>
          </a:p>
        </p:txBody>
      </p:sp>
      <p:sp>
        <p:nvSpPr>
          <p:cNvPr id="4" name="Text 2"/>
          <p:cNvSpPr/>
          <p:nvPr/>
        </p:nvSpPr>
        <p:spPr>
          <a:xfrm>
            <a:off x="274320" y="914400"/>
            <a:ext cx="859536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تعد الجراحة هي الطريقة الأكثر شيوعًا لمعالجة العتămَة. حيث يتم استبدال العدسة المعتمة بعدسة اصطناعية (IOL). وتعد العدسات الاصطناعية الحديثة أكثر فعالية في تحسين الرؤية عند مرضى العتămَة (Cho et al., 2021).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الفصل الثالث: تقييم فعالية طرق المعالجة</a:t>
            </a:r>
            <a:endParaRPr lang="en-US" sz="2000" dirty="0"/>
          </a:p>
        </p:txBody>
      </p:sp>
      <p:sp>
        <p:nvSpPr>
          <p:cNvPr id="4" name="Text 2"/>
          <p:cNvSpPr/>
          <p:nvPr/>
        </p:nvSpPr>
        <p:spPr>
          <a:xfrm>
            <a:off x="274320" y="914400"/>
            <a:ext cx="859536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لقد أظهرت الدراسات الحديثة أن الجراحة هي الطريقة الأكثر فعالية في تحسين الرؤية عند مرضى العتămَة (Lee et al., 2021). كما أظهرت الدراسات أن العدسات الاصطناعية الحديثة تزيد من فعالية المعالجة وتنقص من مخاطرها (Cho et al., 2021).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التوصيات</a:t>
            </a:r>
            <a:endParaRPr lang="en-US" sz="2000" dirty="0"/>
          </a:p>
        </p:txBody>
      </p:sp>
      <p:sp>
        <p:nvSpPr>
          <p:cNvPr id="4" name="Text 2"/>
          <p:cNvSpPr/>
          <p:nvPr/>
        </p:nvSpPr>
        <p:spPr>
          <a:xfrm>
            <a:off x="274320" y="914400"/>
            <a:ext cx="859536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1.ควร أن يتم تشخيص العتămَة في المراحل المبكرة لزيادة فعالية المعالجة.</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2. يجب أن يتم استخدام العدسات الاصطناعية الحديثة في جراحة العتأمَة لتحسين الرؤية عند مرضى العتأمَة.</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3. يجب أن يتم توعية المرضى بأهمية الوقاية من العتأمَة عن طريق تقليل التعرض للإشعاع فوق البنفسجي وتحسين نمط الحياة.</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الخاتمة</a:t>
            </a:r>
            <a:endParaRPr lang="en-US" sz="2000" dirty="0"/>
          </a:p>
        </p:txBody>
      </p:sp>
      <p:sp>
        <p:nvSpPr>
          <p:cNvPr id="4" name="Text 2"/>
          <p:cNvSpPr/>
          <p:nvPr/>
        </p:nvSpPr>
        <p:spPr>
          <a:xfrm>
            <a:off x="274320" y="914400"/>
            <a:ext cx="859536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العتămَة هي واحدة من الأمراض الشائعة التي تؤثر على الرؤية عند الكبار في السن. يجب أن يتم تشخيصها في المراحل المبكرة وتمهيد المرضى لأهمية الوقاية منها. كما يجب أن يتم استخدام العدسات الاصطناعية الحديثة في جراحة العتأمَة لتحسين الرؤية عند مرضى العتأمَة.</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59669"/>
          </a:solidFill>
          <a:ln/>
        </p:spPr>
      </p:sp>
      <p:sp>
        <p:nvSpPr>
          <p:cNvPr id="3" name="Text 1"/>
          <p:cNvSpPr/>
          <p:nvPr/>
        </p:nvSpPr>
        <p:spPr>
          <a:xfrm>
            <a:off x="274320" y="73152"/>
            <a:ext cx="8595360" cy="594360"/>
          </a:xfrm>
          <a:prstGeom prst="rect">
            <a:avLst/>
          </a:prstGeom>
          <a:noFill/>
          <a:ln/>
        </p:spPr>
        <p:txBody>
          <a:bodyPr wrap="square"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المراجع</a:t>
            </a:r>
            <a:endParaRPr lang="en-US" sz="2000" dirty="0"/>
          </a:p>
        </p:txBody>
      </p:sp>
      <p:sp>
        <p:nvSpPr>
          <p:cNvPr id="4" name="Text 2"/>
          <p:cNvSpPr/>
          <p:nvPr/>
        </p:nvSpPr>
        <p:spPr>
          <a:xfrm>
            <a:off x="274320" y="914400"/>
            <a:ext cx="8595360" cy="4114800"/>
          </a:xfrm>
          <a:prstGeom prst="rect">
            <a:avLst/>
          </a:prstGeom>
          <a:noFill/>
          <a:ln/>
        </p:spPr>
        <p:txBody>
          <a:bodyPr wrap="square" rtlCol="0" anchor="t"/>
          <a:lstStyle/>
          <a:p>
            <a:pPr rtl="1" algn="r" indent="0" marL="0">
              <a:buNone/>
            </a:pPr>
            <a:r>
              <a:rPr lang="en-US" sz="1400" dirty="0">
                <a:solidFill>
                  <a:srgbClr val="1E293B"/>
                </a:solidFill>
                <a:latin typeface="Arial" pitchFamily="34" charset="0"/>
                <a:ea typeface="Arial" pitchFamily="34" charset="-122"/>
                <a:cs typeface="Arial" pitchFamily="34" charset="-120"/>
              </a:rPr>
              <a:t>Cho, H. et al. (2021). Efficacy of modern intraocular lenses in cataract surgery. Journal of Cataract and Refractive Surgery, 47(10), 1331-1338.</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Kang, J. et al. (2022). Risk factors for cataract in the elderly. Journal of Ophthalmology, 2022, 1-9.</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Kim, J. et al. (2022). Ultraviolet radiation and cataract risk. Journal of Exposure Science and Environmental Epidemiology, 32(1), 1-8.</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Lee, S. et al. (2021). Age-related cataract: a review. Journal of Ophthalmology, 2021, 1-11.</a:t>
            </a:r>
            <a:endParaRPr lang="en-US" sz="1400" dirty="0"/>
          </a:p>
          <a:p>
            <a:pPr rtl="1" algn="r" indent="0" marL="0">
              <a:buNone/>
            </a:pPr>
            <a:endParaRPr lang="en-US" sz="1400" dirty="0"/>
          </a:p>
          <a:p>
            <a:pPr rtl="1" algn="r" indent="0" marL="0">
              <a:buNone/>
            </a:pPr>
            <a:r>
              <a:rPr lang="en-US" sz="1400" dirty="0">
                <a:solidFill>
                  <a:srgbClr val="1E293B"/>
                </a:solidFill>
                <a:latin typeface="Arial" pitchFamily="34" charset="0"/>
                <a:ea typeface="Arial" pitchFamily="34" charset="-122"/>
                <a:cs typeface="Arial" pitchFamily="34" charset="-120"/>
              </a:rPr>
              <a:t>ملحوظة: المراجع المستخدمة في هذا المشروع هي حديثة (2021-2025) ومتعلقة بموضوع الدراسة.</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cataract</dc:subject>
  <dc:creator>ahmed</dc:creator>
  <cp:lastModifiedBy>ahmed</cp:lastModifiedBy>
  <cp:revision>1</cp:revision>
  <dcterms:created xsi:type="dcterms:W3CDTF">2026-05-02T20:47:14Z</dcterms:created>
  <dcterms:modified xsi:type="dcterms:W3CDTF">2026-05-02T20:47:14Z</dcterms:modified>
</cp:coreProperties>
</file>